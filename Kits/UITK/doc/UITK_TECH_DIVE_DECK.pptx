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8" r:id="rId6"/>
    <p:sldId id="259" r:id="rId7"/>
    <p:sldId id="284" r:id="rId8"/>
    <p:sldId id="260" r:id="rId9"/>
    <p:sldId id="261" r:id="rId10"/>
    <p:sldId id="262" r:id="rId11"/>
    <p:sldId id="265" r:id="rId12"/>
    <p:sldId id="285" r:id="rId13"/>
    <p:sldId id="286" r:id="rId14"/>
    <p:sldId id="287" r:id="rId15"/>
    <p:sldId id="267" r:id="rId16"/>
    <p:sldId id="266" r:id="rId17"/>
    <p:sldId id="263" r:id="rId18"/>
    <p:sldId id="288" r:id="rId19"/>
    <p:sldId id="275" r:id="rId20"/>
    <p:sldId id="264" r:id="rId21"/>
    <p:sldId id="278" r:id="rId22"/>
    <p:sldId id="279" r:id="rId23"/>
    <p:sldId id="280" r:id="rId24"/>
    <p:sldId id="281" r:id="rId25"/>
    <p:sldId id="282" r:id="rId26"/>
    <p:sldId id="283" r:id="rId27"/>
    <p:sldId id="274" r:id="rId28"/>
    <p:sldId id="276" r:id="rId29"/>
    <p:sldId id="25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6" d="100"/>
          <a:sy n="96" d="100"/>
        </p:scale>
        <p:origin x="30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8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2/19/2020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2/19/2020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2/19/2020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xbox-atg.visualstudio.com/ATG%20Sample%20Development-Git/_git/gx_dev?path=%2FKits%2FUITK%2Fdoc%2FElementClassCreation.md&amp;version=GBmaster&amp;_a=preview" TargetMode="External"/><Relationship Id="rId2" Type="http://schemas.openxmlformats.org/officeDocument/2006/relationships/hyperlink" Target="https://xbox-atg.visualstudio.com/ATG%20Sample%20Development-Git/_git/gx_dev?path=%2FKits%2FUITK%2Fdoc%2FSampleGettingStarted.md&amp;version=GBmaster&amp;_a=preview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B6275-8198-4073-A29C-E2D56F3D5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6907" y="944480"/>
            <a:ext cx="8825658" cy="4404402"/>
          </a:xfrm>
        </p:spPr>
        <p:txBody>
          <a:bodyPr>
            <a:noAutofit/>
          </a:bodyPr>
          <a:lstStyle/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 b="1"/>
              <a:t>U</a:t>
            </a:r>
            <a:r>
              <a:rPr lang="en-US" sz="4800"/>
              <a:t>ltimately</a:t>
            </a:r>
            <a:br>
              <a:rPr lang="en-US"/>
            </a:br>
            <a:r>
              <a:rPr lang="en-US" b="1"/>
              <a:t>I</a:t>
            </a:r>
            <a:r>
              <a:rPr lang="en-US" sz="4800"/>
              <a:t>nteresting</a:t>
            </a:r>
            <a:br>
              <a:rPr lang="en-US"/>
            </a:br>
            <a:r>
              <a:rPr lang="en-US" b="1"/>
              <a:t>T</a:t>
            </a:r>
            <a:r>
              <a:rPr lang="en-US" sz="4800"/>
              <a:t>ool</a:t>
            </a:r>
            <a:br>
              <a:rPr lang="en-US"/>
            </a:br>
            <a:r>
              <a:rPr lang="en-US" b="1"/>
              <a:t>K</a:t>
            </a:r>
            <a:r>
              <a:rPr lang="en-US" sz="4800"/>
              <a:t>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7A150-BD96-4AEC-A252-66F4FCC07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36907" y="5348880"/>
            <a:ext cx="8825658" cy="861420"/>
          </a:xfrm>
        </p:spPr>
        <p:txBody>
          <a:bodyPr/>
          <a:lstStyle/>
          <a:p>
            <a:r>
              <a:rPr lang="en-US" dirty="0"/>
              <a:t>Taking sample </a:t>
            </a:r>
            <a:r>
              <a:rPr lang="en-US" dirty="0" err="1"/>
              <a:t>ux</a:t>
            </a:r>
            <a:r>
              <a:rPr lang="en-US" dirty="0"/>
              <a:t> into the next generation</a:t>
            </a:r>
          </a:p>
        </p:txBody>
      </p:sp>
    </p:spTree>
    <p:extLst>
      <p:ext uri="{BB962C8B-B14F-4D97-AF65-F5344CB8AC3E}">
        <p14:creationId xmlns:p14="http://schemas.microsoft.com/office/powerpoint/2010/main" val="795110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7751E-1235-449D-9676-BA2E8AE4E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Similarities between UITK &amp; SampleGUI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8ED-329E-4BB2-A75C-22439056B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9564688" cy="41192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Both are "retained mode" UI systems</a:t>
            </a:r>
            <a:br>
              <a:rPr lang="en-US" dirty="0">
                <a:ea typeface="+mj-lt"/>
                <a:cs typeface="+mj-lt"/>
              </a:rPr>
            </a:br>
            <a:r>
              <a:rPr lang="en-US" dirty="0"/>
              <a:t>(controls are persistent across frames and maintain state)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Both can communicate to sample code through callback binding</a:t>
            </a:r>
            <a:br>
              <a:rPr lang="en-US" dirty="0">
                <a:ea typeface="+mj-lt"/>
                <a:cs typeface="+mj-lt"/>
              </a:rPr>
            </a:br>
            <a:r>
              <a:rPr lang="en-US" dirty="0"/>
              <a:t>(call a lambda when something I care about happens)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Both are extensible through sample code</a:t>
            </a:r>
            <a:br>
              <a:rPr lang="en-US" dirty="0"/>
            </a:br>
            <a:r>
              <a:rPr lang="en-US" dirty="0">
                <a:ea typeface="+mj-lt"/>
                <a:cs typeface="+mj-lt"/>
              </a:rPr>
              <a:t>(sample code can augment the UI scene graph)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Both depend on the </a:t>
            </a:r>
            <a:r>
              <a:rPr lang="en-US" b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DirectXTK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as their low-level render interface</a:t>
            </a:r>
          </a:p>
        </p:txBody>
      </p:sp>
    </p:spTree>
    <p:extLst>
      <p:ext uri="{BB962C8B-B14F-4D97-AF65-F5344CB8AC3E}">
        <p14:creationId xmlns:p14="http://schemas.microsoft.com/office/powerpoint/2010/main" val="1509431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77406-4918-4FD9-B643-77ADB8978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between UITK &amp; </a:t>
            </a:r>
            <a:r>
              <a:rPr lang="en-US" dirty="0" err="1"/>
              <a:t>SampleGUI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36764-8E40-4E9E-BB88-115CE56D5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938338"/>
            <a:ext cx="4396338" cy="576262"/>
          </a:xfrm>
        </p:spPr>
        <p:txBody>
          <a:bodyPr/>
          <a:lstStyle/>
          <a:p>
            <a:r>
              <a:rPr lang="en-US" dirty="0" err="1"/>
              <a:t>SampleGUI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0AD0BF-AAB8-4BD7-A314-D7E371FE0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514600"/>
            <a:ext cx="5044895" cy="365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Is quite compact</a:t>
            </a:r>
            <a:br>
              <a:rPr lang="en-US" dirty="0"/>
            </a:br>
            <a:r>
              <a:rPr lang="en-US" dirty="0"/>
              <a:t>(just 1 CSV &amp; 2 source files needed)</a:t>
            </a: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Emphasizes simplicity over feature richness</a:t>
            </a:r>
          </a:p>
          <a:p>
            <a:pPr lvl="1"/>
            <a:r>
              <a:rPr lang="en-US" dirty="0"/>
              <a:t>Layout is ordered lines of CSV values</a:t>
            </a:r>
          </a:p>
          <a:p>
            <a:pPr lvl="1"/>
            <a:r>
              <a:rPr lang="en-US" dirty="0">
                <a:solidFill>
                  <a:srgbClr val="FFFFFF"/>
                </a:solidFill>
                <a:ea typeface="+mj-lt"/>
                <a:cs typeface="+mj-lt"/>
              </a:rPr>
              <a:t>Absolute pixels, resolution dependent</a:t>
            </a:r>
          </a:p>
          <a:p>
            <a:pPr lvl="1"/>
            <a:r>
              <a:rPr lang="en-US" dirty="0">
                <a:solidFill>
                  <a:srgbClr val="FFFFFF"/>
                </a:solidFill>
                <a:ea typeface="+mj-lt"/>
                <a:cs typeface="+mj-lt"/>
              </a:rPr>
              <a:t>No grouping of UI elements</a:t>
            </a:r>
          </a:p>
          <a:p>
            <a:pPr lvl="1"/>
            <a:r>
              <a:rPr lang="en-US" dirty="0">
                <a:solidFill>
                  <a:srgbClr val="FFFFFF"/>
                </a:solidFill>
                <a:ea typeface="+mj-lt"/>
                <a:cs typeface="+mj-lt"/>
              </a:rPr>
              <a:t>Minimal styling options</a:t>
            </a: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Can stand up simple UIs quickly, </a:t>
            </a:r>
            <a:b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</a:b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difficult to scale to more complex UIs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BD45A4-1523-4BD9-9949-4A58CADFA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UITK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723A9-9EDD-490B-8B44-FFB780F9E7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682656" y="2519554"/>
            <a:ext cx="5442544" cy="365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Supports hierarchical, composable elements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(any element can contain other elements)</a:t>
            </a: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Supports prefabs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(reusable snippets of elements)</a:t>
            </a: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Supports ref units*, UI scaling</a:t>
            </a: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Supports inheritable, reusable styles</a:t>
            </a:r>
            <a:endParaRPr lang="en-US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Has a flexible JSON data schema</a:t>
            </a:r>
            <a:endParaRPr lang="en-US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Has a unit &amp; render test framework</a:t>
            </a:r>
            <a:endParaRPr lang="en-US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r>
              <a:rPr lang="en-US" b="1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Leverages C++17 features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918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EA151-065E-4B3B-8C8E-EB52EC1DB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“ref units” …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FA949-40D2-47E1-A995-D9A6E90BF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564688" cy="4500282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They are the individual UI pixels for a “reference resolution.”</a:t>
            </a:r>
          </a:p>
          <a:p>
            <a:pPr lvl="1"/>
            <a:r>
              <a:rPr lang="en-US" dirty="0"/>
              <a:t>All of the UI positional and sizing data for a sample is consistent within this same resolution.</a:t>
            </a:r>
          </a:p>
          <a:p>
            <a:pPr lvl="1"/>
            <a:r>
              <a:rPr lang="en-US" dirty="0"/>
              <a:t>1 </a:t>
            </a:r>
            <a:r>
              <a:rPr lang="en-US" dirty="0" err="1"/>
              <a:t>texel</a:t>
            </a:r>
            <a:r>
              <a:rPr lang="en-US" dirty="0"/>
              <a:t> equals 1 ref unit.</a:t>
            </a:r>
          </a:p>
          <a:p>
            <a:pPr lvl="1"/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They are ultimately scaled to the current device resolution at render time accordingly.</a:t>
            </a:r>
          </a:p>
          <a:p>
            <a:pPr lvl="1"/>
            <a:r>
              <a:rPr lang="en-US" dirty="0"/>
              <a:t>If the aspect ratio matches, then it is a straight scale.</a:t>
            </a:r>
          </a:p>
          <a:p>
            <a:pPr lvl="1"/>
            <a:r>
              <a:rPr lang="en-US" dirty="0"/>
              <a:t>If the aspect ratio does not match, then a scaling policy is applied…</a:t>
            </a:r>
            <a:br>
              <a:rPr lang="en-US" dirty="0"/>
            </a:br>
            <a:r>
              <a:rPr lang="en-US" dirty="0"/>
              <a:t>… either the smallest dimension expands to fit, </a:t>
            </a:r>
            <a:br>
              <a:rPr lang="en-US" dirty="0"/>
            </a:br>
            <a:r>
              <a:rPr lang="en-US" dirty="0"/>
              <a:t>or the largest dimension shrinks to fit.</a:t>
            </a:r>
          </a:p>
          <a:p>
            <a:pPr lvl="1"/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Do we need the reference resolution (and scaling policy) to be optionally configurable per sample?</a:t>
            </a:r>
          </a:p>
        </p:txBody>
      </p:sp>
    </p:spTree>
    <p:extLst>
      <p:ext uri="{BB962C8B-B14F-4D97-AF65-F5344CB8AC3E}">
        <p14:creationId xmlns:p14="http://schemas.microsoft.com/office/powerpoint/2010/main" val="3058801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1107C-C2E4-43D7-AC2B-0121F032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54191"/>
          </a:xfrm>
        </p:spPr>
        <p:txBody>
          <a:bodyPr/>
          <a:lstStyle/>
          <a:p>
            <a:r>
              <a:rPr lang="en-US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89BEB-C1D0-43A3-B105-612BAD023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03312" y="1203325"/>
            <a:ext cx="4396339" cy="3968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Dependencies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E5506-8612-4CB2-9879-DFC130A837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43073" y="1198843"/>
            <a:ext cx="4612511" cy="3968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Layers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7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983124F-82BF-42EC-91DD-6DB748083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1604682"/>
            <a:ext cx="2743464" cy="2738718"/>
          </a:xfrm>
          <a:prstGeom prst="rect">
            <a:avLst/>
          </a:prstGeom>
        </p:spPr>
      </p:pic>
      <p:pic>
        <p:nvPicPr>
          <p:cNvPr id="8" name="Picture 8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139922C3-AE0B-4FC0-BA66-818790FAE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323" y="1595718"/>
            <a:ext cx="4883754" cy="457648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A9D8105-7E47-46D0-8692-63248768C2F2}"/>
              </a:ext>
            </a:extLst>
          </p:cNvPr>
          <p:cNvSpPr/>
          <p:nvPr/>
        </p:nvSpPr>
        <p:spPr>
          <a:xfrm>
            <a:off x="1103312" y="5257800"/>
            <a:ext cx="2743464" cy="91439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Windows/Xbox OS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EBBCAB-3DCA-4712-831A-BD5153E0BC33}"/>
              </a:ext>
            </a:extLst>
          </p:cNvPr>
          <p:cNvSpPr/>
          <p:nvPr/>
        </p:nvSpPr>
        <p:spPr>
          <a:xfrm>
            <a:off x="1103312" y="4343400"/>
            <a:ext cx="2743464" cy="90991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DirectX</a:t>
            </a:r>
          </a:p>
        </p:txBody>
      </p:sp>
    </p:spTree>
    <p:extLst>
      <p:ext uri="{BB962C8B-B14F-4D97-AF65-F5344CB8AC3E}">
        <p14:creationId xmlns:p14="http://schemas.microsoft.com/office/powerpoint/2010/main" val="1001439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9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23" name="Picture 11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25" name="Oval 13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26" name="Picture 15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7" name="Picture 17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8" name="Rectangle 19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29" name="Rectangle 21">
            <a:extLst>
              <a:ext uri="{FF2B5EF4-FFF2-40B4-BE49-F238E27FC236}">
                <a16:creationId xmlns:a16="http://schemas.microsoft.com/office/drawing/2014/main" id="{A4322390-8B58-46BE-88EB-D9FD30C0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5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3393E7B5-C76A-4F8E-8EA5-D8731A22382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40000"/>
          </a:blip>
          <a:srcRect l="1114" r="4689" b="179"/>
          <a:stretch/>
        </p:blipFill>
        <p:spPr>
          <a:xfrm>
            <a:off x="-23547" y="-133537"/>
            <a:ext cx="12098754" cy="72830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A8AFBE-B618-4CC5-BFB4-CFB9B9871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1447800"/>
            <a:ext cx="5353452" cy="33217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200">
                <a:solidFill>
                  <a:schemeClr val="tx1"/>
                </a:solidFill>
              </a:rPr>
              <a:t>Where is it?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78FEB-E66D-447A-BEA7-74AA98C1D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4777380"/>
            <a:ext cx="5353452" cy="8614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cap="all"/>
              <a:t>Look ma, it's not vaporware...</a:t>
            </a:r>
          </a:p>
        </p:txBody>
      </p:sp>
      <p:sp>
        <p:nvSpPr>
          <p:cNvPr id="30" name="Rectangle 23">
            <a:extLst>
              <a:ext uri="{FF2B5EF4-FFF2-40B4-BE49-F238E27FC236}">
                <a16:creationId xmlns:a16="http://schemas.microsoft.com/office/drawing/2014/main" id="{C885E190-58DD-42DD-A4A8-401E15C92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04095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451B-4B66-41E6-916B-EA0F4D15C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54191"/>
          </a:xfrm>
        </p:spPr>
        <p:txBody>
          <a:bodyPr/>
          <a:lstStyle/>
          <a:p>
            <a:r>
              <a:rPr lang="en-US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CA88C-0CEC-4437-810A-9DF093B84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440597"/>
            <a:ext cx="8939738" cy="419548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Wingdings 3"/>
            </a:pPr>
            <a:r>
              <a:rPr lang="en-US" b="1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Sample writers' integration ("Getting Started") guide</a:t>
            </a:r>
            <a:br>
              <a:rPr lang="en-US">
                <a:ea typeface="+mj-lt"/>
                <a:cs typeface="+mj-lt"/>
              </a:rPr>
            </a:br>
            <a:r>
              <a:rPr lang="en-US">
                <a:ea typeface="+mj-lt"/>
                <a:cs typeface="+mj-lt"/>
              </a:rPr>
              <a:t>(Has extraneous documentation due to ATG sample template integration not being complete yet.  Taken from the point of view of a new sample created from the template.)</a:t>
            </a:r>
            <a:br>
              <a:rPr lang="en-US">
                <a:ea typeface="+mj-lt"/>
                <a:cs typeface="+mj-lt"/>
              </a:rPr>
            </a:br>
            <a:r>
              <a:rPr lang="en-US" sz="1400">
                <a:ea typeface="+mj-lt"/>
                <a:cs typeface="+mj-lt"/>
                <a:hlinkClick r:id="rId2"/>
              </a:rPr>
              <a:t>https://xbox-atg.visualstudio.com/ATG%20Sample%20Development-Git/_git/gx_dev?path=%2FKits%2FUITK%2Fdoc%2FSampleGettingStarted.md&amp;version=GBmaster&amp;_a=preview</a:t>
            </a:r>
            <a:br>
              <a:rPr lang="en-US">
                <a:ea typeface="+mj-lt"/>
                <a:cs typeface="+mj-lt"/>
              </a:rPr>
            </a:br>
            <a:endParaRPr lang="en-US">
              <a:ea typeface="+mj-lt"/>
              <a:cs typeface="+mj-lt"/>
            </a:endParaRPr>
          </a:p>
          <a:p>
            <a:r>
              <a:rPr lang="en-US" b="1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Widget author's step-by-step guide</a:t>
            </a:r>
            <a:br>
              <a:rPr lang="en-US">
                <a:ea typeface="+mj-lt"/>
                <a:cs typeface="+mj-lt"/>
              </a:rPr>
            </a:br>
            <a:r>
              <a:rPr lang="en-US">
                <a:ea typeface="+mj-lt"/>
                <a:cs typeface="+mj-lt"/>
              </a:rPr>
              <a:t>(General-purpose widgets can be integrated back into the UITK.  Custom sample widgets follow pretty much the same steps.)</a:t>
            </a:r>
            <a:br>
              <a:rPr lang="en-US">
                <a:ea typeface="+mj-lt"/>
                <a:cs typeface="+mj-lt"/>
              </a:rPr>
            </a:br>
            <a:r>
              <a:rPr lang="en-US" sz="1500">
                <a:ea typeface="+mj-lt"/>
                <a:cs typeface="+mj-lt"/>
                <a:hlinkClick r:id="rId3"/>
              </a:rPr>
              <a:t>https://xbox-atg.visualstudio.com/ATG%20Sample%20Development-Git/_git/gx_dev?path=%2FKits%2FUITK%2Fdoc%2FElementClassCreation.md&amp;version=GBmaster&amp;_a=preview</a:t>
            </a:r>
            <a:br>
              <a:rPr lang="en-US">
                <a:ea typeface="+mj-lt"/>
                <a:cs typeface="+mj-lt"/>
              </a:rPr>
            </a:br>
            <a:endParaRPr lang="en-US">
              <a:ea typeface="+mj-lt"/>
              <a:cs typeface="+mj-lt"/>
            </a:endParaRPr>
          </a:p>
          <a:p>
            <a:r>
              <a:rPr lang="en-US" b="1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More to come … what do you need?</a:t>
            </a:r>
          </a:p>
        </p:txBody>
      </p:sp>
    </p:spTree>
    <p:extLst>
      <p:ext uri="{BB962C8B-B14F-4D97-AF65-F5344CB8AC3E}">
        <p14:creationId xmlns:p14="http://schemas.microsoft.com/office/powerpoint/2010/main" val="2536915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4FD-9BB3-4F04-998C-EFD95D797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6" y="2861733"/>
            <a:ext cx="9296997" cy="1915647"/>
          </a:xfrm>
        </p:spPr>
        <p:txBody>
          <a:bodyPr/>
          <a:lstStyle/>
          <a:p>
            <a:r>
              <a:rPr lang="en-US" sz="5400" b="1" dirty="0"/>
              <a:t>Porting a Sample to UITK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D49DC-0284-424C-BFF5-5391F591B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Highlights, Differences, and results (SOCIAL_DESKTOP)</a:t>
            </a:r>
          </a:p>
        </p:txBody>
      </p:sp>
    </p:spTree>
    <p:extLst>
      <p:ext uri="{BB962C8B-B14F-4D97-AF65-F5344CB8AC3E}">
        <p14:creationId xmlns:p14="http://schemas.microsoft.com/office/powerpoint/2010/main" val="265359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C93AE-5689-4175-8FFA-B56A580CE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381000"/>
            <a:ext cx="8229600" cy="762000"/>
          </a:xfrm>
        </p:spPr>
        <p:txBody>
          <a:bodyPr/>
          <a:lstStyle/>
          <a:p>
            <a:r>
              <a:rPr lang="en-US" dirty="0"/>
              <a:t>1. Setting up the Sample’s UI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6D919-1367-4088-BF07-4DB6FB90D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143000"/>
            <a:ext cx="9564688" cy="45720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Give the sample a </a:t>
            </a:r>
            <a:r>
              <a:rPr lang="en-US" b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UIManager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&amp; </a:t>
            </a:r>
            <a:r>
              <a:rPr lang="en-US" b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UIStyleRenderer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, and update/render it…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57544B-AEAF-4E26-907E-740F4DF44521}"/>
              </a:ext>
            </a:extLst>
          </p:cNvPr>
          <p:cNvSpPr txBox="1"/>
          <p:nvPr/>
        </p:nvSpPr>
        <p:spPr>
          <a:xfrm>
            <a:off x="1103312" y="1600200"/>
            <a:ext cx="10479088" cy="1323439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in </a:t>
            </a:r>
            <a:r>
              <a:rPr lang="en-US" sz="1600" i="1" dirty="0" err="1">
                <a:solidFill>
                  <a:srgbClr val="FFC000"/>
                </a:solidFill>
                <a:latin typeface="Consolas" panose="020B0609020204030204" pitchFamily="49" charset="0"/>
              </a:rPr>
              <a:t>Social_Desktop.h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...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// UITK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nl-NL" sz="1600" dirty="0">
                <a:latin typeface="Consolas" panose="020B0609020204030204" pitchFamily="49" charset="0"/>
              </a:rPr>
              <a:t>ATG::UITK::</a:t>
            </a:r>
            <a:r>
              <a:rPr lang="nl-NL" sz="1600" dirty="0">
                <a:solidFill>
                  <a:srgbClr val="00B050"/>
                </a:solidFill>
                <a:latin typeface="Consolas" panose="020B0609020204030204" pitchFamily="49" charset="0"/>
              </a:rPr>
              <a:t>UIManager</a:t>
            </a:r>
            <a:r>
              <a:rPr lang="nl-NL" sz="1600" dirty="0">
                <a:latin typeface="Consolas" panose="020B0609020204030204" pitchFamily="49" charset="0"/>
              </a:rPr>
              <a:t>                        m_uiManager;</a:t>
            </a:r>
          </a:p>
          <a:p>
            <a:r>
              <a:rPr lang="nl-NL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latin typeface="Consolas" panose="020B0609020204030204" pitchFamily="49" charset="0"/>
              </a:rPr>
              <a:t>ATG::UITK::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UIInputState</a:t>
            </a:r>
            <a:r>
              <a:rPr lang="en-US" sz="1600" dirty="0">
                <a:latin typeface="Consolas" panose="020B0609020204030204" pitchFamily="49" charset="0"/>
              </a:rPr>
              <a:t>                     </a:t>
            </a:r>
            <a:r>
              <a:rPr lang="en-US" sz="1600" dirty="0" err="1">
                <a:latin typeface="Consolas" panose="020B0609020204030204" pitchFamily="49" charset="0"/>
              </a:rPr>
              <a:t>m_uiInputState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FE941D-18F3-43D8-988E-3A0080A861E0}"/>
              </a:ext>
            </a:extLst>
          </p:cNvPr>
          <p:cNvSpPr txBox="1"/>
          <p:nvPr/>
        </p:nvSpPr>
        <p:spPr>
          <a:xfrm>
            <a:off x="1103312" y="3104200"/>
            <a:ext cx="10479088" cy="357020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in </a:t>
            </a:r>
            <a:r>
              <a:rPr lang="en-US" sz="1600" i="1" dirty="0">
                <a:solidFill>
                  <a:srgbClr val="FFC000"/>
                </a:solidFill>
                <a:latin typeface="Consolas" panose="020B0609020204030204" pitchFamily="49" charset="0"/>
              </a:rPr>
              <a:t>Social_Desktop.cpp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Sample</a:t>
            </a:r>
            <a:r>
              <a:rPr lang="en-US" sz="1600" b="1" dirty="0">
                <a:latin typeface="Consolas" panose="020B0609020204030204" pitchFamily="49" charset="0"/>
              </a:rPr>
              <a:t>::Update() </a:t>
            </a: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m_uiInputState.Update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elapsedTime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m_uiManager.Update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elapsedTime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m_uiInputState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Sample</a:t>
            </a:r>
            <a:r>
              <a:rPr lang="en-US" sz="1600" b="1" dirty="0">
                <a:latin typeface="Consolas" panose="020B0609020204030204" pitchFamily="49" charset="0"/>
              </a:rPr>
              <a:t>::Render() </a:t>
            </a: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m_uiManager.Render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Sample</a:t>
            </a:r>
            <a:r>
              <a:rPr lang="en-US" sz="1600" b="1" dirty="0">
                <a:latin typeface="Consolas" panose="020B0609020204030204" pitchFamily="49" charset="0"/>
              </a:rPr>
              <a:t>::</a:t>
            </a:r>
            <a:r>
              <a:rPr lang="en-US" sz="1600" b="1" dirty="0" err="1">
                <a:latin typeface="Consolas" panose="020B0609020204030204" pitchFamily="49" charset="0"/>
              </a:rPr>
              <a:t>CreateDeviceDependentResources</a:t>
            </a:r>
            <a:r>
              <a:rPr lang="en-US" sz="1600" b="1" dirty="0">
                <a:latin typeface="Consolas" panose="020B0609020204030204" pitchFamily="49" charset="0"/>
              </a:rPr>
              <a:t>() </a:t>
            </a: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...</a:t>
            </a:r>
          </a:p>
          <a:p>
            <a:r>
              <a:rPr lang="en-US" dirty="0"/>
              <a:t> 	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renderer = std::</a:t>
            </a:r>
            <a:r>
              <a:rPr lang="en-US" sz="1600" dirty="0" err="1">
                <a:latin typeface="Consolas" panose="020B0609020204030204" pitchFamily="49" charset="0"/>
              </a:rPr>
              <a:t>make_unique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UIStyleRendererD3D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</a:rPr>
              <a:t>m_myDeviceResourcesProvider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		</a:t>
            </a:r>
            <a:r>
              <a:rPr lang="en-US" sz="1600" dirty="0" err="1">
                <a:latin typeface="Consolas" panose="020B0609020204030204" pitchFamily="49" charset="0"/>
              </a:rPr>
              <a:t>m_uiManager.GetStyleManager</a:t>
            </a:r>
            <a:r>
              <a:rPr lang="en-US" sz="1600" dirty="0">
                <a:latin typeface="Consolas" panose="020B0609020204030204" pitchFamily="49" charset="0"/>
              </a:rPr>
              <a:t>().</a:t>
            </a:r>
            <a:r>
              <a:rPr lang="en-US" sz="1600" dirty="0" err="1">
                <a:latin typeface="Consolas" panose="020B0609020204030204" pitchFamily="49" charset="0"/>
              </a:rPr>
              <a:t>InitializeStyleRenderer</a:t>
            </a:r>
            <a:r>
              <a:rPr lang="en-US" sz="1600" dirty="0">
                <a:latin typeface="Consolas" panose="020B0609020204030204" pitchFamily="49" charset="0"/>
              </a:rPr>
              <a:t>(std::move(renderer));</a:t>
            </a:r>
          </a:p>
        </p:txBody>
      </p:sp>
    </p:spTree>
    <p:extLst>
      <p:ext uri="{BB962C8B-B14F-4D97-AF65-F5344CB8AC3E}">
        <p14:creationId xmlns:p14="http://schemas.microsoft.com/office/powerpoint/2010/main" val="383187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DE96-B189-4B76-ADCB-52740DE97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381000"/>
            <a:ext cx="9107489" cy="766482"/>
          </a:xfrm>
        </p:spPr>
        <p:txBody>
          <a:bodyPr/>
          <a:lstStyle/>
          <a:p>
            <a:r>
              <a:rPr lang="en-US" dirty="0"/>
              <a:t>2. Finding and using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E2FA9-081F-4E4D-9D5E-CC989070B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066800"/>
            <a:ext cx="8946541" cy="6858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Get references to the UI elements you need, call APIs on them, and bind event handlers to them…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0322A1-6443-4A40-8BB1-AA4FE2396796}"/>
              </a:ext>
            </a:extLst>
          </p:cNvPr>
          <p:cNvSpPr txBox="1"/>
          <p:nvPr/>
        </p:nvSpPr>
        <p:spPr>
          <a:xfrm>
            <a:off x="1103312" y="3242370"/>
            <a:ext cx="10479088" cy="3293209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in </a:t>
            </a:r>
            <a:r>
              <a:rPr lang="en-US" sz="1600" i="1" dirty="0">
                <a:solidFill>
                  <a:srgbClr val="FFC000"/>
                </a:solidFill>
                <a:latin typeface="Consolas" panose="020B0609020204030204" pitchFamily="49" charset="0"/>
              </a:rPr>
              <a:t>Social_Desktop.cpp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</a:rPr>
              <a:t>sampleLayout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m_uiManager.LoadLayoutFromFile</a:t>
            </a:r>
            <a:r>
              <a:rPr lang="en-US" sz="1600" dirty="0">
                <a:latin typeface="Consolas" panose="020B0609020204030204" pitchFamily="49" charset="0"/>
              </a:rPr>
              <a:t>("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Assets/Layouts/sample-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layout.json</a:t>
            </a:r>
            <a:r>
              <a:rPr lang="en-US" sz="1600" dirty="0">
                <a:latin typeface="Consolas" panose="020B0609020204030204" pitchFamily="49" charset="0"/>
              </a:rPr>
              <a:t>");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m_uiManager.AttachTo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sampleLayout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m_uiManager.GetRootElement</a:t>
            </a:r>
            <a:r>
              <a:rPr lang="en-US" sz="1600" dirty="0">
                <a:latin typeface="Consolas" panose="020B0609020204030204" pitchFamily="49" charset="0"/>
              </a:rPr>
              <a:t>());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m_console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m_uiManager.FindTypedById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UIConsoleWindow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600" dirty="0">
                <a:latin typeface="Consolas" panose="020B0609020204030204" pitchFamily="49" charset="0"/>
              </a:rPr>
              <a:t>("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Console_Window</a:t>
            </a:r>
            <a:r>
              <a:rPr lang="en-US" sz="1600" dirty="0">
                <a:latin typeface="Consolas" panose="020B0609020204030204" pitchFamily="49" charset="0"/>
              </a:rPr>
              <a:t>"));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m_friendsList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m_uiManager.FindTypedById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UIStackPanel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600" dirty="0">
                <a:latin typeface="Consolas" panose="020B0609020204030204" pitchFamily="49" charset="0"/>
              </a:rPr>
              <a:t>("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Friends_Button_List</a:t>
            </a:r>
            <a:r>
              <a:rPr lang="en-US" sz="1600" dirty="0">
                <a:latin typeface="Consolas" panose="020B0609020204030204" pitchFamily="49" charset="0"/>
              </a:rPr>
              <a:t>"));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m_twistMenu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m_uiManager.FindTypedById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UITwistMenu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600" dirty="0">
                <a:latin typeface="Consolas" panose="020B0609020204030204" pitchFamily="49" charset="0"/>
              </a:rPr>
              <a:t>("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Twist_Menu</a:t>
            </a:r>
            <a:r>
              <a:rPr lang="en-US" sz="1600" dirty="0">
                <a:latin typeface="Consolas" panose="020B0609020204030204" pitchFamily="49" charset="0"/>
              </a:rPr>
              <a:t>"));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m_twistMenu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SelectedItemState</a:t>
            </a:r>
            <a:r>
              <a:rPr lang="en-US" sz="1600" dirty="0">
                <a:latin typeface="Consolas" panose="020B0609020204030204" pitchFamily="49" charset="0"/>
              </a:rPr>
              <a:t>().</a:t>
            </a:r>
            <a:r>
              <a:rPr lang="en-US" sz="1600" dirty="0" err="1">
                <a:latin typeface="Consolas" panose="020B0609020204030204" pitchFamily="49" charset="0"/>
              </a:rPr>
              <a:t>AddListener</a:t>
            </a:r>
            <a:r>
              <a:rPr lang="en-US" sz="1600" dirty="0">
                <a:latin typeface="Consolas" panose="020B0609020204030204" pitchFamily="49" charset="0"/>
              </a:rPr>
              <a:t>([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</a:t>
            </a:r>
            <a:r>
              <a:rPr lang="en-US" sz="1600" dirty="0">
                <a:latin typeface="Consolas" panose="020B0609020204030204" pitchFamily="49" charset="0"/>
              </a:rPr>
              <a:t>](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UITwistMenu</a:t>
            </a:r>
            <a:r>
              <a:rPr lang="en-US" sz="1600" dirty="0">
                <a:latin typeface="Consolas" panose="020B0609020204030204" pitchFamily="49" charset="0"/>
              </a:rPr>
              <a:t>* </a:t>
            </a:r>
            <a:r>
              <a:rPr lang="en-US" sz="16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twistMenu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this-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latin typeface="Consolas" panose="020B0609020204030204" pitchFamily="49" charset="0"/>
              </a:rPr>
              <a:t>m_selectedFriendList</a:t>
            </a:r>
            <a:r>
              <a:rPr lang="en-US" sz="1600" dirty="0">
                <a:latin typeface="Consolas" panose="020B0609020204030204" pitchFamily="49" charset="0"/>
              </a:rPr>
              <a:t> = (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FriendListType</a:t>
            </a:r>
            <a:r>
              <a:rPr lang="en-US" sz="1600" dirty="0">
                <a:latin typeface="Consolas" panose="020B0609020204030204" pitchFamily="49" charset="0"/>
              </a:rPr>
              <a:t>)</a:t>
            </a:r>
            <a:r>
              <a:rPr lang="en-US" sz="16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twistMenu</a:t>
            </a:r>
            <a:r>
              <a:rPr lang="en-US" sz="16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-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latin typeface="Consolas" panose="020B0609020204030204" pitchFamily="49" charset="0"/>
              </a:rPr>
              <a:t>GetCurrentItemIndex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this-</a:t>
            </a:r>
            <a:r>
              <a:rPr lang="en-US" sz="1600" dirty="0">
                <a:latin typeface="Consolas" panose="020B0609020204030204" pitchFamily="49" charset="0"/>
              </a:rPr>
              <a:t>&gt;Refresh();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85D80-5A4C-403E-A397-2826415D20A7}"/>
              </a:ext>
            </a:extLst>
          </p:cNvPr>
          <p:cNvSpPr txBox="1"/>
          <p:nvPr/>
        </p:nvSpPr>
        <p:spPr>
          <a:xfrm>
            <a:off x="1103312" y="1752600"/>
            <a:ext cx="10479088" cy="1323439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in </a:t>
            </a:r>
            <a:r>
              <a:rPr lang="en-US" sz="1600" i="1" dirty="0" err="1">
                <a:solidFill>
                  <a:srgbClr val="FFC000"/>
                </a:solidFill>
                <a:latin typeface="Consolas" panose="020B0609020204030204" pitchFamily="49" charset="0"/>
              </a:rPr>
              <a:t>Social_Desktop.h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...</a:t>
            </a:r>
            <a:endParaRPr lang="en-US" sz="1600" dirty="0">
              <a:solidFill>
                <a:schemeClr val="accent4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nl-NL" sz="1600" dirty="0">
                <a:latin typeface="Consolas" panose="020B0609020204030204" pitchFamily="49" charset="0"/>
              </a:rPr>
              <a:t>ATG::UITK::</a:t>
            </a:r>
            <a:r>
              <a:rPr lang="nl-NL" sz="1600" dirty="0">
                <a:solidFill>
                  <a:srgbClr val="00B050"/>
                </a:solidFill>
                <a:latin typeface="Consolas" panose="020B0609020204030204" pitchFamily="49" charset="0"/>
              </a:rPr>
              <a:t>UIConsoleWindow</a:t>
            </a:r>
            <a:r>
              <a:rPr lang="nl-NL" sz="1600" dirty="0">
                <a:latin typeface="Consolas" panose="020B0609020204030204" pitchFamily="49" charset="0"/>
              </a:rPr>
              <a:t>                  	m_console;</a:t>
            </a:r>
          </a:p>
          <a:p>
            <a:r>
              <a:rPr lang="nl-NL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latin typeface="Consolas" panose="020B0609020204030204" pitchFamily="49" charset="0"/>
              </a:rPr>
              <a:t>ATG::UITK::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UIStackPanel</a:t>
            </a:r>
            <a:r>
              <a:rPr lang="en-US" sz="1600" dirty="0">
                <a:latin typeface="Consolas" panose="020B0609020204030204" pitchFamily="49" charset="0"/>
              </a:rPr>
              <a:t>                     	</a:t>
            </a:r>
            <a:r>
              <a:rPr lang="en-US" sz="1600" dirty="0" err="1">
                <a:latin typeface="Consolas" panose="020B0609020204030204" pitchFamily="49" charset="0"/>
              </a:rPr>
              <a:t>m_friendsList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ATG::UITK::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UITwistMenu</a:t>
            </a:r>
            <a:r>
              <a:rPr lang="en-US" sz="1600" dirty="0"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latin typeface="Consolas" panose="020B0609020204030204" pitchFamily="49" charset="0"/>
              </a:rPr>
              <a:t>m_twistMenu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194463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2C3CD-7C41-4AE8-986F-C428155FE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107489" cy="766482"/>
          </a:xfrm>
        </p:spPr>
        <p:txBody>
          <a:bodyPr/>
          <a:lstStyle/>
          <a:p>
            <a:r>
              <a:rPr lang="en-US" dirty="0"/>
              <a:t>3. Dynamically adding buttons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B16CF-8730-4481-96BF-6E6B34BA3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219200"/>
            <a:ext cx="8946541" cy="76648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Instantiate a prefab, access its sub elements, modify their text, and execute code on button presses…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D0008B-FF5E-4BA7-B573-F8827B313D65}"/>
              </a:ext>
            </a:extLst>
          </p:cNvPr>
          <p:cNvSpPr txBox="1"/>
          <p:nvPr/>
        </p:nvSpPr>
        <p:spPr>
          <a:xfrm>
            <a:off x="1066800" y="2068592"/>
            <a:ext cx="10515600" cy="458587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in </a:t>
            </a:r>
            <a:r>
              <a:rPr lang="en-US" sz="1600" i="1" dirty="0">
                <a:solidFill>
                  <a:srgbClr val="FFC000"/>
                </a:solidFill>
                <a:latin typeface="Consolas" panose="020B0609020204030204" pitchFamily="49" charset="0"/>
              </a:rPr>
              <a:t>Social_Desktop.cpp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CastPtr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m_uiManager.InstantiatePrefab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"#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friend_button_prefab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latin typeface="Consolas" panose="020B0609020204030204" pitchFamily="49" charset="0"/>
              </a:rPr>
              <a:t>));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m_uiManager.AttachTo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m_friendsList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</a:rPr>
              <a:t>tagText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GetTypedSubElementById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UIStaticText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Gamer_Tag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latin typeface="Consolas" panose="020B0609020204030204" pitchFamily="49" charset="0"/>
              </a:rPr>
              <a:t>));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tagText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SetDisplayText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gamerTag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</a:rPr>
              <a:t>statusText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GetTypedSubElementById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UIStaticText</a:t>
            </a:r>
            <a:r>
              <a:rPr lang="en-US" sz="1600" dirty="0">
                <a:latin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"Status"</a:t>
            </a:r>
            <a:r>
              <a:rPr lang="en-US" sz="1600" dirty="0">
                <a:latin typeface="Consolas" panose="020B0609020204030204" pitchFamily="49" charset="0"/>
              </a:rPr>
              <a:t>));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statusText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SetDisplayText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userStatus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	</a:t>
            </a:r>
            <a:r>
              <a:rPr lang="en-US" sz="1600" dirty="0" err="1">
                <a:latin typeface="Consolas" panose="020B0609020204030204" pitchFamily="49" charset="0"/>
              </a:rPr>
              <a:t>m_friendButtonToXuid</a:t>
            </a:r>
            <a:r>
              <a:rPr lang="en-US" sz="1600" dirty="0">
                <a:latin typeface="Consolas" panose="020B0609020204030204" pitchFamily="49" charset="0"/>
              </a:rPr>
              <a:t>[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GetID</a:t>
            </a:r>
            <a:r>
              <a:rPr lang="en-US" sz="1600" dirty="0">
                <a:latin typeface="Consolas" panose="020B0609020204030204" pitchFamily="49" charset="0"/>
              </a:rPr>
              <a:t>()] = </a:t>
            </a:r>
            <a:r>
              <a:rPr lang="en-US" sz="1600" dirty="0" err="1">
                <a:latin typeface="Consolas" panose="020B0609020204030204" pitchFamily="49" charset="0"/>
              </a:rPr>
              <a:t>xuid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friendButton</a:t>
            </a:r>
            <a:r>
              <a:rPr lang="en-US" sz="1600" dirty="0">
                <a:latin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</a:rPr>
              <a:t>ButtonState</a:t>
            </a:r>
            <a:r>
              <a:rPr lang="en-US" sz="1600" dirty="0">
                <a:latin typeface="Consolas" panose="020B0609020204030204" pitchFamily="49" charset="0"/>
              </a:rPr>
              <a:t>().</a:t>
            </a:r>
            <a:r>
              <a:rPr lang="en-US" sz="1600" dirty="0" err="1">
                <a:latin typeface="Consolas" panose="020B0609020204030204" pitchFamily="49" charset="0"/>
              </a:rPr>
              <a:t>AddListenerWhen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UIbuttonButton</a:t>
            </a:r>
            <a:r>
              <a:rPr lang="en-US" sz="1600" dirty="0"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State</a:t>
            </a:r>
            <a:r>
              <a:rPr lang="en-US" sz="1600" dirty="0"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FFFF00"/>
                </a:solidFill>
                <a:latin typeface="Consolas" panose="020B0609020204030204" pitchFamily="49" charset="0"/>
              </a:rPr>
              <a:t>Pressed</a:t>
            </a:r>
            <a:r>
              <a:rPr lang="en-US" sz="1600" dirty="0">
                <a:latin typeface="Consolas" panose="020B0609020204030204" pitchFamily="49" charset="0"/>
              </a:rPr>
              <a:t>, [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</a:t>
            </a:r>
            <a:r>
              <a:rPr lang="en-US" sz="1600" dirty="0">
                <a:latin typeface="Consolas" panose="020B0609020204030204" pitchFamily="49" charset="0"/>
              </a:rPr>
              <a:t>](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</a:t>
            </a:r>
            <a:r>
              <a:rPr lang="en-US" sz="1600" dirty="0">
                <a:latin typeface="Consolas" panose="020B0609020204030204" pitchFamily="49" charset="0"/>
              </a:rPr>
              <a:t>* </a:t>
            </a:r>
            <a:r>
              <a:rPr lang="en-US" sz="16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button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</a:rPr>
              <a:t>friendXuid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this-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latin typeface="Consolas" panose="020B0609020204030204" pitchFamily="49" charset="0"/>
              </a:rPr>
              <a:t>m_friendButtonToXuid</a:t>
            </a:r>
            <a:r>
              <a:rPr lang="en-US" sz="1600" dirty="0">
                <a:latin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button-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latin typeface="Consolas" panose="020B0609020204030204" pitchFamily="49" charset="0"/>
              </a:rPr>
              <a:t>GetID</a:t>
            </a:r>
            <a:r>
              <a:rPr lang="en-US" sz="1600" dirty="0">
                <a:latin typeface="Consolas" panose="020B0609020204030204" pitchFamily="49" charset="0"/>
              </a:rPr>
              <a:t>()];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	</a:t>
            </a:r>
            <a:r>
              <a:rPr lang="en-US" sz="1600" dirty="0">
                <a:solidFill>
                  <a:srgbClr val="00B0F0"/>
                </a:solidFill>
                <a:latin typeface="Consolas" panose="020B0609020204030204" pitchFamily="49" charset="0"/>
              </a:rPr>
              <a:t>this-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latin typeface="Consolas" panose="020B0609020204030204" pitchFamily="49" charset="0"/>
              </a:rPr>
              <a:t>ShowUserProfileCard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friendXuid</a:t>
            </a:r>
            <a:r>
              <a:rPr 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});</a:t>
            </a:r>
          </a:p>
        </p:txBody>
      </p:sp>
    </p:spTree>
    <p:extLst>
      <p:ext uri="{BB962C8B-B14F-4D97-AF65-F5344CB8AC3E}">
        <p14:creationId xmlns:p14="http://schemas.microsoft.com/office/powerpoint/2010/main" val="2940494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34709-90A5-45FE-AA9A-8E15C308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Vital Statistics (</a:t>
            </a:r>
            <a:r>
              <a:rPr lang="en-US" dirty="0" err="1"/>
              <a:t>Social_Desktop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70A11-FA5F-4D33-BF97-862F015F3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26588"/>
            <a:ext cx="8946541" cy="419548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3 source files removed (a total of 6,805 bytes)</a:t>
            </a:r>
            <a:br>
              <a:rPr lang="en-US" dirty="0">
                <a:ea typeface="+mj-lt"/>
                <a:cs typeface="+mj-lt"/>
              </a:rPr>
            </a:br>
            <a:r>
              <a:rPr lang="en-US" dirty="0"/>
              <a:t>Custom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ItemRepeater</a:t>
            </a:r>
            <a:r>
              <a:rPr lang="en-US" dirty="0"/>
              <a:t> and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UserRepeater</a:t>
            </a:r>
            <a:r>
              <a:rPr lang="en-US" dirty="0"/>
              <a:t> classes were no longer needed in favor of using a prefab &amp; a map.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25,717 bytes of modified code (before) became </a:t>
            </a:r>
            <a:b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</a:b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ea typeface="+mj-lt"/>
                <a:cs typeface="+mj-lt"/>
              </a:rPr>
              <a:t>24,987 bytes of modified code (after)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Social_Desktop.cpp</a:t>
            </a:r>
            <a:r>
              <a:rPr lang="en-US" dirty="0"/>
              <a:t> was reduced by about </a:t>
            </a:r>
            <a:r>
              <a:rPr lang="en-US" b="1" dirty="0">
                <a:solidFill>
                  <a:srgbClr val="92D050"/>
                </a:solidFill>
              </a:rPr>
              <a:t>2K</a:t>
            </a:r>
            <a:r>
              <a:rPr lang="en-US" dirty="0"/>
              <a:t> bytes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~23% reduction in total code bytes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(not including unchanged sample boilerplate)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10,172 bytes of UI data added</a:t>
            </a:r>
          </a:p>
        </p:txBody>
      </p:sp>
    </p:spTree>
    <p:extLst>
      <p:ext uri="{BB962C8B-B14F-4D97-AF65-F5344CB8AC3E}">
        <p14:creationId xmlns:p14="http://schemas.microsoft.com/office/powerpoint/2010/main" val="2653153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D539CC-9B60-484E-9409-958E200BC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454964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dirty="0" err="1"/>
              <a:t>Social_Desktop</a:t>
            </a:r>
            <a:br>
              <a:rPr lang="en-US" sz="2400" dirty="0"/>
            </a:br>
            <a:r>
              <a:rPr lang="en-US" sz="2400" b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BeyondCompare</a:t>
            </a:r>
            <a:endParaRPr lang="en-US" sz="24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65E4DA93-0A7C-4C0F-816B-5B3E3CE08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7"/>
          <a:srcRect l="-198" r="-297" b="-91"/>
          <a:stretch/>
        </p:blipFill>
        <p:spPr>
          <a:xfrm>
            <a:off x="4249754" y="10"/>
            <a:ext cx="7967666" cy="68643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619919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602A-65F7-44D6-BF0A-A4B1A80C0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b="1"/>
              <a:t>Principal Classes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D78D2-9109-4D1A-B9FE-E912906FC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that make the </a:t>
            </a:r>
            <a:r>
              <a:rPr lang="en-US" dirty="0" err="1"/>
              <a:t>UItk</a:t>
            </a:r>
            <a:r>
              <a:rPr lang="en-US" dirty="0"/>
              <a:t> tick</a:t>
            </a:r>
          </a:p>
        </p:txBody>
      </p:sp>
    </p:spTree>
    <p:extLst>
      <p:ext uri="{BB962C8B-B14F-4D97-AF65-F5344CB8AC3E}">
        <p14:creationId xmlns:p14="http://schemas.microsoft.com/office/powerpoint/2010/main" val="2400545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EC25-4DC6-41C0-87D1-91DEEC2BC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42682"/>
          </a:xfrm>
        </p:spPr>
        <p:txBody>
          <a:bodyPr/>
          <a:lstStyle/>
          <a:p>
            <a:r>
              <a:rPr lang="en-US" dirty="0"/>
              <a:t>Before &amp; After (straight port)…</a:t>
            </a:r>
          </a:p>
        </p:txBody>
      </p:sp>
      <p:pic>
        <p:nvPicPr>
          <p:cNvPr id="6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32517C6-1877-4511-B08F-31F124354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600200"/>
            <a:ext cx="5456239" cy="3531790"/>
          </a:xfrm>
          <a:prstGeom prst="rect">
            <a:avLst/>
          </a:prstGeom>
        </p:spPr>
      </p:pic>
      <p:pic>
        <p:nvPicPr>
          <p:cNvPr id="8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56FFC223-63D6-4F3A-92BB-D27747462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14599"/>
            <a:ext cx="5791200" cy="33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UISerializedObjects</a:t>
            </a:r>
            <a:r>
              <a:rPr lang="en-US" dirty="0"/>
              <a:t> &amp; IDs</a:t>
            </a:r>
            <a:br>
              <a:rPr lang="en-US" dirty="0"/>
            </a:br>
            <a:r>
              <a:rPr lang="en-US" sz="2000" dirty="0">
                <a:solidFill>
                  <a:srgbClr val="00B0F0"/>
                </a:solidFill>
              </a:rPr>
              <a:t>…THE BASICS: HOW DATA &amp; CODE BIND TO EACH OTHER</a:t>
            </a:r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 </a:t>
            </a:r>
            <a:r>
              <a:rPr lang="en-US" b="1" dirty="0">
                <a:solidFill>
                  <a:srgbClr val="92D050"/>
                </a:solidFill>
                <a:latin typeface="Consolas" panose="020B0609020204030204" pitchFamily="49" charset="0"/>
              </a:rPr>
              <a:t>ATG::UITK::ID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is:</a:t>
            </a:r>
          </a:p>
          <a:p>
            <a:pPr lvl="1"/>
            <a:r>
              <a:rPr lang="en-US" dirty="0"/>
              <a:t>A strongly typed identifier used for naming, references, and enumerated values.</a:t>
            </a:r>
          </a:p>
          <a:p>
            <a:pPr lvl="1"/>
            <a:r>
              <a:rPr lang="en-US" dirty="0"/>
              <a:t>It is essentially a case-insensitive string “under the hood.”</a:t>
            </a:r>
          </a:p>
          <a:p>
            <a:pPr lvl="1"/>
            <a:r>
              <a:rPr lang="en-US" dirty="0"/>
              <a:t>Is expected to be immutable.</a:t>
            </a:r>
          </a:p>
          <a:p>
            <a:pPr lvl="1"/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 </a:t>
            </a:r>
            <a:r>
              <a:rPr lang="en-US" b="1" dirty="0" err="1">
                <a:solidFill>
                  <a:srgbClr val="92D050"/>
                </a:solidFill>
                <a:latin typeface="Consolas" panose="020B0609020204030204" pitchFamily="49" charset="0"/>
              </a:rPr>
              <a:t>UISerializedObject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(shortened to </a:t>
            </a:r>
            <a:r>
              <a:rPr lang="en-US" b="1" dirty="0" err="1">
                <a:solidFill>
                  <a:srgbClr val="92D050"/>
                </a:solidFill>
                <a:latin typeface="Consolas" panose="020B0609020204030204" pitchFamily="49" charset="0"/>
              </a:rPr>
              <a:t>UIDataPtr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in the code) is:</a:t>
            </a:r>
          </a:p>
          <a:p>
            <a:pPr lvl="1"/>
            <a:r>
              <a:rPr lang="en-US" dirty="0"/>
              <a:t>The interface for parsing and retrieving data values from UI data.</a:t>
            </a:r>
          </a:p>
          <a:p>
            <a:pPr lvl="1"/>
            <a:r>
              <a:rPr lang="en-US" dirty="0"/>
              <a:t>Data values are keyed, and the keys are case-sensitive.</a:t>
            </a:r>
          </a:p>
          <a:p>
            <a:pPr lvl="1"/>
            <a:r>
              <a:rPr lang="en-US" dirty="0"/>
              <a:t>It is essentially UTF8 encoded JSON formatted text “under the hood.”</a:t>
            </a:r>
          </a:p>
          <a:p>
            <a:pPr lvl="1"/>
            <a:r>
              <a:rPr lang="en-US" dirty="0"/>
              <a:t>It supports strong type and default handling.</a:t>
            </a:r>
          </a:p>
        </p:txBody>
      </p:sp>
    </p:spTree>
    <p:extLst>
      <p:ext uri="{BB962C8B-B14F-4D97-AF65-F5344CB8AC3E}">
        <p14:creationId xmlns:p14="http://schemas.microsoft.com/office/powerpoint/2010/main" val="788579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1CA227-6367-468F-B1C0-7F7D837FE3C7}"/>
              </a:ext>
            </a:extLst>
          </p:cNvPr>
          <p:cNvSpPr/>
          <p:nvPr/>
        </p:nvSpPr>
        <p:spPr>
          <a:xfrm>
            <a:off x="1113251" y="20382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/>
              <a:t>UIManager </a:t>
            </a:r>
            <a:r>
              <a:rPr lang="en-US" sz="1800" dirty="0">
                <a:solidFill>
                  <a:srgbClr val="00B0F0"/>
                </a:solidFill>
              </a:rPr>
              <a:t>(singleton owned by </a:t>
            </a:r>
            <a:r>
              <a:rPr lang="en-US" sz="1800" b="1" dirty="0">
                <a:solidFill>
                  <a:srgbClr val="00B0F0"/>
                </a:solidFill>
              </a:rPr>
              <a:t>Sample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&lt;UIManager.h&gt;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1103312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Responsibilities include: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64BF6-F810-4799-A9B1-F084B1E7ECDE}"/>
              </a:ext>
            </a:extLst>
          </p:cNvPr>
          <p:cNvSpPr/>
          <p:nvPr/>
        </p:nvSpPr>
        <p:spPr>
          <a:xfrm>
            <a:off x="1131447" y="289560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FE4B7-B94C-4FA2-B072-6886450263B2}"/>
              </a:ext>
            </a:extLst>
          </p:cNvPr>
          <p:cNvSpPr/>
          <p:nvPr/>
        </p:nvSpPr>
        <p:spPr>
          <a:xfrm>
            <a:off x="1143000" y="37908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B8853-E576-4FF7-8ED3-EC60A8E54434}"/>
              </a:ext>
            </a:extLst>
          </p:cNvPr>
          <p:cNvSpPr/>
          <p:nvPr/>
        </p:nvSpPr>
        <p:spPr>
          <a:xfrm>
            <a:off x="1143000" y="46290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47FE8-2C6D-48D7-9E4C-96728370BCFF}"/>
              </a:ext>
            </a:extLst>
          </p:cNvPr>
          <p:cNvSpPr/>
          <p:nvPr/>
        </p:nvSpPr>
        <p:spPr>
          <a:xfrm>
            <a:off x="1143000" y="55434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450953" cy="4195481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Load UI layout &amp; prefab data			</a:t>
            </a:r>
            <a:r>
              <a:rPr lang="en-US" sz="1200" dirty="0">
                <a:latin typeface="Consolas" panose="020B0609020204030204" pitchFamily="49" charset="0"/>
              </a:rPr>
              <a:t>LoadLayoutFromFile(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string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layoutFilePath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Register UI element factories			</a:t>
            </a:r>
            <a:r>
              <a:rPr lang="en-US" sz="1200" dirty="0">
                <a:latin typeface="Consolas" panose="020B0609020204030204" pitchFamily="49" charset="0"/>
              </a:rPr>
              <a:t>RegisterElementFactory(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elementClassId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Attach/Detach UI elements			</a:t>
            </a:r>
            <a:r>
              <a:rPr lang="en-US" sz="1200" dirty="0">
                <a:latin typeface="Consolas" panose="020B0609020204030204" pitchFamily="49" charset="0"/>
              </a:rPr>
              <a:t>AttachTo(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child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parent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Find UI elements by ID					</a:t>
            </a:r>
            <a:r>
              <a:rPr lang="en-US" sz="1200" dirty="0">
                <a:latin typeface="Consolas" panose="020B0609020204030204" pitchFamily="49" charset="0"/>
              </a:rPr>
              <a:t>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shared_ptr</a:t>
            </a:r>
            <a:r>
              <a:rPr lang="en-US" sz="1200" dirty="0"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T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FindTypedById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/>
              <a:t>Hit testing of UI elements 				</a:t>
            </a:r>
            <a:r>
              <a:rPr lang="en-US" sz="1200" dirty="0">
                <a:latin typeface="Consolas" panose="020B0609020204030204" pitchFamily="49" charset="0"/>
              </a:rPr>
              <a:t>GetElementUnderPixel(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root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UI scene graph updating/rendering	</a:t>
            </a:r>
            <a:r>
              <a:rPr lang="en-US" sz="1200" dirty="0">
                <a:latin typeface="Consolas" panose="020B0609020204030204" pitchFamily="49" charset="0"/>
              </a:rPr>
              <a:t>Update(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elapsedTimeInS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UIInputState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inputState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UI scene related input handling		</a:t>
            </a:r>
            <a:r>
              <a:rPr lang="en-US" sz="1200" dirty="0" err="1">
                <a:latin typeface="Consolas" panose="020B0609020204030204" pitchFamily="49" charset="0"/>
              </a:rPr>
              <a:t>HandleMouseInput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UIInputState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inputState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Focused UI element management		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FindFocusElement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root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Ref units to pixels scaling		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GetRefUnitsToPixelsScale</a:t>
            </a:r>
            <a:r>
              <a:rPr lang="en-US" sz="1200" dirty="0"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512490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1CA227-6367-468F-B1C0-7F7D837FE3C7}"/>
              </a:ext>
            </a:extLst>
          </p:cNvPr>
          <p:cNvSpPr/>
          <p:nvPr/>
        </p:nvSpPr>
        <p:spPr>
          <a:xfrm>
            <a:off x="1113251" y="20382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 err="1"/>
              <a:t>UIStyleManager</a:t>
            </a:r>
            <a:r>
              <a:rPr lang="en-US" dirty="0"/>
              <a:t> </a:t>
            </a:r>
            <a:r>
              <a:rPr lang="en-US" sz="1800" dirty="0">
                <a:solidFill>
                  <a:srgbClr val="00B0F0"/>
                </a:solidFill>
              </a:rPr>
              <a:t>(singleton owned by </a:t>
            </a:r>
            <a:r>
              <a:rPr lang="en-US" sz="1800" b="1" dirty="0">
                <a:solidFill>
                  <a:srgbClr val="00B0F0"/>
                </a:solidFill>
              </a:rPr>
              <a:t>UIManager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UIStyleManager.h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1103312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Responsibilities include: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64BF6-F810-4799-A9B1-F084B1E7ECDE}"/>
              </a:ext>
            </a:extLst>
          </p:cNvPr>
          <p:cNvSpPr/>
          <p:nvPr/>
        </p:nvSpPr>
        <p:spPr>
          <a:xfrm>
            <a:off x="1131447" y="289560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FE4B7-B94C-4FA2-B072-6886450263B2}"/>
              </a:ext>
            </a:extLst>
          </p:cNvPr>
          <p:cNvSpPr/>
          <p:nvPr/>
        </p:nvSpPr>
        <p:spPr>
          <a:xfrm>
            <a:off x="1143000" y="37908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10450953" cy="2442882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Load UI style data						</a:t>
            </a:r>
            <a:r>
              <a:rPr lang="en-US" sz="1200" dirty="0" err="1">
                <a:latin typeface="Consolas" panose="020B0609020204030204" pitchFamily="49" charset="0"/>
              </a:rPr>
              <a:t>LoadStyleFromData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context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UIDataPtr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Register UI style factories				</a:t>
            </a:r>
            <a:r>
              <a:rPr lang="en-US" sz="1200" dirty="0" err="1">
                <a:latin typeface="Consolas" panose="020B0609020204030204" pitchFamily="49" charset="0"/>
              </a:rPr>
              <a:t>RegisterStyleFactory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styleClassId</a:t>
            </a:r>
            <a:r>
              <a:rPr lang="en-US" sz="1200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/>
              <a:t>Flatten UI style chains					</a:t>
            </a:r>
            <a:r>
              <a:rPr lang="en-US" sz="1200" dirty="0" err="1">
                <a:latin typeface="Consolas" panose="020B0609020204030204" pitchFamily="49" charset="0"/>
              </a:rPr>
              <a:t>FlattenAllStyles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/>
              <a:t>Find UI styles by ID						</a:t>
            </a:r>
            <a:r>
              <a:rPr lang="en-US" sz="1200" dirty="0">
                <a:latin typeface="Consolas" panose="020B0609020204030204" pitchFamily="49" charset="0"/>
              </a:rPr>
              <a:t>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shared_ptr</a:t>
            </a:r>
            <a:r>
              <a:rPr lang="en-US" sz="1200" dirty="0">
                <a:latin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T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GetTypedById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/>
              <a:t>Possesses the style renderer 			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StyleRenderer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latin typeface="Consolas" panose="020B0609020204030204" pitchFamily="49" charset="0"/>
              </a:rPr>
              <a:t>GetStyleRenderer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068712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1CA227-6367-468F-B1C0-7F7D837FE3C7}"/>
              </a:ext>
            </a:extLst>
          </p:cNvPr>
          <p:cNvSpPr/>
          <p:nvPr/>
        </p:nvSpPr>
        <p:spPr>
          <a:xfrm>
            <a:off x="1113251" y="20382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 err="1"/>
              <a:t>UIStyleRenderer</a:t>
            </a:r>
            <a:r>
              <a:rPr lang="en-US" dirty="0"/>
              <a:t> </a:t>
            </a:r>
            <a:r>
              <a:rPr lang="en-US" sz="1800" dirty="0">
                <a:solidFill>
                  <a:srgbClr val="00B0F0"/>
                </a:solidFill>
              </a:rPr>
              <a:t>(singleton owned by </a:t>
            </a:r>
            <a:r>
              <a:rPr lang="en-US" sz="1800" b="1" dirty="0" err="1">
                <a:solidFill>
                  <a:srgbClr val="00B0F0"/>
                </a:solidFill>
              </a:rPr>
              <a:t>UIStyleManager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UIStyleRenderer.h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1103312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Responsibilities include: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64BF6-F810-4799-A9B1-F084B1E7ECDE}"/>
              </a:ext>
            </a:extLst>
          </p:cNvPr>
          <p:cNvSpPr/>
          <p:nvPr/>
        </p:nvSpPr>
        <p:spPr>
          <a:xfrm>
            <a:off x="1131447" y="289560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FE4B7-B94C-4FA2-B072-6886450263B2}"/>
              </a:ext>
            </a:extLst>
          </p:cNvPr>
          <p:cNvSpPr/>
          <p:nvPr/>
        </p:nvSpPr>
        <p:spPr>
          <a:xfrm>
            <a:off x="1143000" y="37908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B8853-E576-4FF7-8ED3-EC60A8E54434}"/>
              </a:ext>
            </a:extLst>
          </p:cNvPr>
          <p:cNvSpPr/>
          <p:nvPr/>
        </p:nvSpPr>
        <p:spPr>
          <a:xfrm>
            <a:off x="1143000" y="46290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11088688" cy="3128682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Cache texture assets					</a:t>
            </a:r>
            <a:r>
              <a:rPr lang="en-US" sz="1200" dirty="0" err="1">
                <a:latin typeface="Consolas" panose="020B0609020204030204" pitchFamily="49" charset="0"/>
              </a:rPr>
              <a:t>CacheTexture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string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textureFilePath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Cache font assets						</a:t>
            </a:r>
            <a:r>
              <a:rPr lang="en-US" sz="1200" dirty="0" err="1">
                <a:latin typeface="Consolas" panose="020B0609020204030204" pitchFamily="49" charset="0"/>
              </a:rPr>
              <a:t>CacheFont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string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fontFilePath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Get font metrics						</a:t>
            </a:r>
            <a:r>
              <a:rPr lang="en-US" sz="1200" dirty="0" err="1">
                <a:latin typeface="Consolas" panose="020B0609020204030204" pitchFamily="49" charset="0"/>
              </a:rPr>
              <a:t>GetFontTextSize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FontHandle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string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Draw textured/untextured quads		</a:t>
            </a:r>
            <a:r>
              <a:rPr lang="en-US" sz="1200" dirty="0" err="1">
                <a:latin typeface="Consolas" panose="020B0609020204030204" pitchFamily="49" charset="0"/>
              </a:rPr>
              <a:t>DrawTexturedQuads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TexHandle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std::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vector</a:t>
            </a:r>
            <a:r>
              <a:rPr lang="en-US" sz="1200" dirty="0"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TexturedQuad</a:t>
            </a:r>
            <a:r>
              <a:rPr lang="en-US" sz="1200" dirty="0">
                <a:latin typeface="Consolas" panose="020B0609020204030204" pitchFamily="49" charset="0"/>
              </a:rPr>
              <a:t>&gt;&amp;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quads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Draw UTF8 text strings 					</a:t>
            </a:r>
            <a:r>
              <a:rPr lang="en-US" sz="1200" dirty="0" err="1">
                <a:latin typeface="Consolas" panose="020B0609020204030204" pitchFamily="49" charset="0"/>
              </a:rPr>
              <a:t>DrawTextString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FontHandle</a:t>
            </a:r>
            <a:r>
              <a:rPr lang="en-US" sz="1200" dirty="0">
                <a:latin typeface="Consolas" panose="020B0609020204030204" pitchFamily="49" charset="0"/>
              </a:rPr>
              <a:t>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TextString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string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Manage the scissor rectangle stack	</a:t>
            </a:r>
            <a:r>
              <a:rPr lang="en-US" sz="1200" dirty="0" err="1">
                <a:latin typeface="Consolas" panose="020B0609020204030204" pitchFamily="49" charset="0"/>
              </a:rPr>
              <a:t>PushScissorRectangle</a:t>
            </a:r>
            <a:r>
              <a:rPr lang="en-US" sz="1200" dirty="0">
                <a:latin typeface="Consolas" panose="020B0609020204030204" pitchFamily="49" charset="0"/>
              </a:rPr>
              <a:t>(const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Rectangle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rectInPixels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Manage the color stack				</a:t>
            </a:r>
            <a:r>
              <a:rPr lang="en-US" sz="1200" dirty="0" err="1">
                <a:latin typeface="Consolas" panose="020B0609020204030204" pitchFamily="49" charset="0"/>
              </a:rPr>
              <a:t>PushTintColor</a:t>
            </a:r>
            <a:r>
              <a:rPr lang="en-US" sz="1200" dirty="0">
                <a:latin typeface="Consolas" panose="020B0609020204030204" pitchFamily="49" charset="0"/>
              </a:rPr>
              <a:t>(const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Color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tintColor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45985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1CA227-6367-468F-B1C0-7F7D837FE3C7}"/>
              </a:ext>
            </a:extLst>
          </p:cNvPr>
          <p:cNvSpPr/>
          <p:nvPr/>
        </p:nvSpPr>
        <p:spPr>
          <a:xfrm>
            <a:off x="1113251" y="20382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 err="1"/>
              <a:t>UIElement</a:t>
            </a:r>
            <a:r>
              <a:rPr lang="en-US" dirty="0"/>
              <a:t> </a:t>
            </a:r>
            <a:r>
              <a:rPr lang="en-US" sz="1800" dirty="0">
                <a:solidFill>
                  <a:srgbClr val="00B0F0"/>
                </a:solidFill>
              </a:rPr>
              <a:t>(base instances owned by </a:t>
            </a:r>
            <a:r>
              <a:rPr lang="en-US" sz="1800" b="1" dirty="0" err="1">
                <a:solidFill>
                  <a:srgbClr val="00B0F0"/>
                </a:solidFill>
              </a:rPr>
              <a:t>UIManager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UIElement.h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1103312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Responsibilities include: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64BF6-F810-4799-A9B1-F084B1E7ECDE}"/>
              </a:ext>
            </a:extLst>
          </p:cNvPr>
          <p:cNvSpPr/>
          <p:nvPr/>
        </p:nvSpPr>
        <p:spPr>
          <a:xfrm>
            <a:off x="1131447" y="289560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FE4B7-B94C-4FA2-B072-6886450263B2}"/>
              </a:ext>
            </a:extLst>
          </p:cNvPr>
          <p:cNvSpPr/>
          <p:nvPr/>
        </p:nvSpPr>
        <p:spPr>
          <a:xfrm>
            <a:off x="1143000" y="37908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B8853-E576-4FF7-8ED3-EC60A8E54434}"/>
              </a:ext>
            </a:extLst>
          </p:cNvPr>
          <p:cNvSpPr/>
          <p:nvPr/>
        </p:nvSpPr>
        <p:spPr>
          <a:xfrm>
            <a:off x="1143000" y="46290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10450953" cy="3738282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Exposes basic props (vis/</a:t>
            </a:r>
            <a:r>
              <a:rPr lang="en-US" dirty="0" err="1"/>
              <a:t>enab</a:t>
            </a:r>
            <a:r>
              <a:rPr lang="en-US" dirty="0"/>
              <a:t>/etc.)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bool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IsVisible</a:t>
            </a:r>
            <a:r>
              <a:rPr lang="en-US" sz="1200" dirty="0"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 ...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SetEnabled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bool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isEnabled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/>
              <a:t>Relative </a:t>
            </a:r>
            <a:r>
              <a:rPr lang="en-US" dirty="0" err="1"/>
              <a:t>rect</a:t>
            </a:r>
            <a:r>
              <a:rPr lang="en-US" dirty="0"/>
              <a:t> positioning and sizing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Rectangle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GetScreenRectInPixels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/>
              <a:t>Parent and </a:t>
            </a:r>
            <a:r>
              <a:rPr lang="en-US" dirty="0" err="1"/>
              <a:t>descendents</a:t>
            </a:r>
            <a:r>
              <a:rPr lang="en-US" dirty="0"/>
              <a:t> access		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UIElementPtr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GetChildById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 err="1"/>
              <a:t>Virt</a:t>
            </a:r>
            <a:r>
              <a:rPr lang="en-US" dirty="0"/>
              <a:t> </a:t>
            </a:r>
            <a:r>
              <a:rPr lang="en-US" dirty="0" err="1"/>
              <a:t>PostLoad</a:t>
            </a:r>
            <a:r>
              <a:rPr lang="en-US" dirty="0"/>
              <a:t> [all loading done]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PostLoad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/>
              <a:t>Virt</a:t>
            </a:r>
            <a:r>
              <a:rPr lang="en-US" dirty="0"/>
              <a:t> </a:t>
            </a:r>
            <a:r>
              <a:rPr lang="en-US" dirty="0" err="1"/>
              <a:t>HandleInputEvent</a:t>
            </a:r>
            <a:r>
              <a:rPr lang="en-US" dirty="0"/>
              <a:t> 			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HandleInputEvent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InputEvent</a:t>
            </a:r>
            <a:r>
              <a:rPr lang="en-US" sz="1200" dirty="0">
                <a:latin typeface="Consolas" panose="020B0609020204030204" pitchFamily="49" charset="0"/>
              </a:rPr>
              <a:t>&amp;);</a:t>
            </a:r>
          </a:p>
          <a:p>
            <a:r>
              <a:rPr lang="en-US" dirty="0" err="1"/>
              <a:t>Virt</a:t>
            </a:r>
            <a:r>
              <a:rPr lang="en-US" dirty="0"/>
              <a:t> Update [after input]		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Update(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elapsedTimeInS</a:t>
            </a:r>
            <a:r>
              <a:rPr lang="en-US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dirty="0" err="1"/>
              <a:t>Virt</a:t>
            </a:r>
            <a:r>
              <a:rPr lang="en-US" dirty="0"/>
              <a:t> Render/</a:t>
            </a:r>
            <a:r>
              <a:rPr lang="en-US" dirty="0" err="1"/>
              <a:t>PostRender</a:t>
            </a:r>
            <a:r>
              <a:rPr lang="en-US" dirty="0"/>
              <a:t> (</a:t>
            </a:r>
            <a:r>
              <a:rPr lang="en-US" dirty="0" err="1"/>
              <a:t>hier</a:t>
            </a:r>
            <a:r>
              <a:rPr lang="en-US" dirty="0"/>
              <a:t> order)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Render(); ...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PostRender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/>
              <a:t>Has factory (create/deserialize)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 T</a:t>
            </a:r>
            <a:r>
              <a:rPr lang="en-US" sz="1200" dirty="0">
                <a:latin typeface="Consolas" panose="020B0609020204030204" pitchFamily="49" charset="0"/>
              </a:rPr>
              <a:t>*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UIElementFactory</a:t>
            </a:r>
            <a:r>
              <a:rPr lang="en-US" sz="1200" dirty="0">
                <a:latin typeface="Consolas" panose="020B0609020204030204" pitchFamily="49" charset="0"/>
              </a:rPr>
              <a:t>::Create();</a:t>
            </a:r>
          </a:p>
        </p:txBody>
      </p:sp>
    </p:spTree>
    <p:extLst>
      <p:ext uri="{BB962C8B-B14F-4D97-AF65-F5344CB8AC3E}">
        <p14:creationId xmlns:p14="http://schemas.microsoft.com/office/powerpoint/2010/main" val="425002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/>
              <a:t>Widgets </a:t>
            </a:r>
            <a:r>
              <a:rPr lang="en-US" sz="1800" dirty="0">
                <a:solidFill>
                  <a:srgbClr val="00B0F0"/>
                </a:solidFill>
              </a:rPr>
              <a:t>(derived instances owned by </a:t>
            </a:r>
            <a:r>
              <a:rPr lang="en-US" sz="1800" b="1" dirty="0" err="1">
                <a:solidFill>
                  <a:srgbClr val="00B0F0"/>
                </a:solidFill>
              </a:rPr>
              <a:t>UIManager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UIWidgets.h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609601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Example classes include: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4AA3464-05C6-4A6A-9BE6-5AD4B99E40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707226"/>
              </p:ext>
            </p:extLst>
          </p:nvPr>
        </p:nvGraphicFramePr>
        <p:xfrm>
          <a:off x="609601" y="1981200"/>
          <a:ext cx="10972800" cy="4389120"/>
        </p:xfrm>
        <a:graphic>
          <a:graphicData uri="http://schemas.openxmlformats.org/drawingml/2006/table">
            <a:tbl>
              <a:tblPr firstRow="1" bandRow="1">
                <a:solidFill>
                  <a:schemeClr val="bg2">
                    <a:lumMod val="75000"/>
                  </a:schemeClr>
                </a:solidFill>
                <a:tableStyleId>{E269D01E-BC32-4049-B463-5C60D7B0CCD2}</a:tableStyleId>
              </a:tblPr>
              <a:tblGrid>
                <a:gridCol w="2285999">
                  <a:extLst>
                    <a:ext uri="{9D8B030D-6E8A-4147-A177-3AD203B41FA5}">
                      <a16:colId xmlns:a16="http://schemas.microsoft.com/office/drawing/2014/main" val="3655299918"/>
                    </a:ext>
                  </a:extLst>
                </a:gridCol>
                <a:gridCol w="5816626">
                  <a:extLst>
                    <a:ext uri="{9D8B030D-6E8A-4147-A177-3AD203B41FA5}">
                      <a16:colId xmlns:a16="http://schemas.microsoft.com/office/drawing/2014/main" val="2701741982"/>
                    </a:ext>
                  </a:extLst>
                </a:gridCol>
                <a:gridCol w="2870175">
                  <a:extLst>
                    <a:ext uri="{9D8B030D-6E8A-4147-A177-3AD203B41FA5}">
                      <a16:colId xmlns:a16="http://schemas.microsoft.com/office/drawing/2014/main" val="321471984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Data Class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Header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45729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/>
                        <a:t>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press/release/hover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UIButton.h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548149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CheckBox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toggle states (on/off)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UICheckBox.h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77812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ConsoleWindow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scrollable, stacked lines of history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UIConsoleWindow.h</a:t>
                      </a:r>
                      <a:endParaRPr lang="en-US" dirty="0">
                        <a:solidFill>
                          <a:srgbClr val="FFC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4723646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/>
                        <a:t>Image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a static/dynamic sprite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UIImage.h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859057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of elements that optionally clips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UIPanel.h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052717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PipStrip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H/V pips with one always selected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UIPipStrip.h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096638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ProgressBar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a percentage sprite 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UIProgressBar.h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65745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/>
                        <a:t>Slider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a discrete/continuous thumb value 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UISliderElement.h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099563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StackPanel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dynamic placed H/V stacked elements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UIStackPanel.h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810415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StaticText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h/v aligned text within it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UIStaticText.h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761646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dirty="0" err="1"/>
                        <a:t>TwistMenu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Rect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with text choice and L/R option buttons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UITwistMenu.h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7556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717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1CA227-6367-468F-B1C0-7F7D837FE3C7}"/>
              </a:ext>
            </a:extLst>
          </p:cNvPr>
          <p:cNvSpPr/>
          <p:nvPr/>
        </p:nvSpPr>
        <p:spPr>
          <a:xfrm>
            <a:off x="1113251" y="20382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 err="1"/>
              <a:t>UIStyle</a:t>
            </a:r>
            <a:r>
              <a:rPr lang="en-US" dirty="0"/>
              <a:t> </a:t>
            </a:r>
            <a:r>
              <a:rPr lang="en-US" sz="1800" dirty="0">
                <a:solidFill>
                  <a:srgbClr val="00B0F0"/>
                </a:solidFill>
              </a:rPr>
              <a:t>(base instances owned by </a:t>
            </a:r>
            <a:r>
              <a:rPr lang="en-US" sz="1800" b="1" dirty="0" err="1">
                <a:solidFill>
                  <a:srgbClr val="00B0F0"/>
                </a:solidFill>
              </a:rPr>
              <a:t>UIStyleManager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UIStyle.h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1103312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Responsibilities include: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64BF6-F810-4799-A9B1-F084B1E7ECDE}"/>
              </a:ext>
            </a:extLst>
          </p:cNvPr>
          <p:cNvSpPr/>
          <p:nvPr/>
        </p:nvSpPr>
        <p:spPr>
          <a:xfrm>
            <a:off x="1131447" y="289560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FE4B7-B94C-4FA2-B072-6886450263B2}"/>
              </a:ext>
            </a:extLst>
          </p:cNvPr>
          <p:cNvSpPr/>
          <p:nvPr/>
        </p:nvSpPr>
        <p:spPr>
          <a:xfrm>
            <a:off x="1143000" y="3790890"/>
            <a:ext cx="10450953" cy="400110"/>
          </a:xfrm>
          <a:prstGeom prst="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10450953" cy="2747682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Exposes basic props (pad/mar/etc.)	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Rectangle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AddMarginToRect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Rectangle</a:t>
            </a:r>
            <a:r>
              <a:rPr lang="en-US" sz="1200" dirty="0">
                <a:latin typeface="Consolas" panose="020B0609020204030204" pitchFamily="49" charset="0"/>
              </a:rPr>
              <a:t>&amp; </a:t>
            </a:r>
            <a:r>
              <a:rPr lang="en-US" sz="1200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rect</a:t>
            </a:r>
            <a:r>
              <a:rPr lang="en-US" sz="1200" dirty="0"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/>
              <a:t>Data inheritance with prop override	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InheritsFromID</a:t>
            </a:r>
            <a:r>
              <a:rPr lang="en-US" sz="1200" dirty="0"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; ...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Flatten();</a:t>
            </a:r>
          </a:p>
          <a:p>
            <a:r>
              <a:rPr lang="en-US" dirty="0"/>
              <a:t>Orchestrates render state		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BeforeRender</a:t>
            </a:r>
            <a:r>
              <a:rPr lang="en-US" sz="1200" dirty="0">
                <a:latin typeface="Consolas" panose="020B0609020204030204" pitchFamily="49" charset="0"/>
              </a:rPr>
              <a:t>(); ...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AfterRender</a:t>
            </a:r>
            <a:r>
              <a:rPr lang="en-US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/>
              <a:t>Provides higher level render API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</a:rPr>
              <a:t>RenderLegendText</a:t>
            </a:r>
            <a:r>
              <a:rPr lang="en-US" sz="1200" dirty="0"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Rectangle</a:t>
            </a:r>
            <a:r>
              <a:rPr lang="en-US" sz="1200" dirty="0">
                <a:latin typeface="Consolas" panose="020B0609020204030204" pitchFamily="49" charset="0"/>
              </a:rPr>
              <a:t>&amp;, 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UIDisplayStr</a:t>
            </a:r>
            <a:r>
              <a:rPr lang="en-US" sz="1200" dirty="0">
                <a:latin typeface="Consolas" panose="020B0609020204030204" pitchFamily="49" charset="0"/>
              </a:rPr>
              <a:t>&amp;);</a:t>
            </a:r>
          </a:p>
          <a:p>
            <a:r>
              <a:rPr lang="en-US" dirty="0"/>
              <a:t>Has factory (create/deserialize)		</a:t>
            </a:r>
            <a:r>
              <a:rPr lang="en-US" sz="1200" dirty="0">
                <a:solidFill>
                  <a:srgbClr val="00B0F0"/>
                </a:solidFill>
                <a:latin typeface="Consolas" panose="020B0609020204030204" pitchFamily="49" charset="0"/>
              </a:rPr>
              <a:t>virtual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</a:rPr>
              <a:t>T</a:t>
            </a:r>
            <a:r>
              <a:rPr lang="en-US" sz="1200" dirty="0">
                <a:latin typeface="Consolas" panose="020B0609020204030204" pitchFamily="49" charset="0"/>
              </a:rPr>
              <a:t>* 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UIStyleFactory</a:t>
            </a:r>
            <a:r>
              <a:rPr lang="en-US" sz="1200" dirty="0">
                <a:latin typeface="Consolas" panose="020B0609020204030204" pitchFamily="49" charset="0"/>
              </a:rPr>
              <a:t>::Create();</a:t>
            </a:r>
          </a:p>
        </p:txBody>
      </p:sp>
    </p:spTree>
    <p:extLst>
      <p:ext uri="{BB962C8B-B14F-4D97-AF65-F5344CB8AC3E}">
        <p14:creationId xmlns:p14="http://schemas.microsoft.com/office/powerpoint/2010/main" val="2191612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81679"/>
          </a:xfrm>
        </p:spPr>
        <p:txBody>
          <a:bodyPr/>
          <a:lstStyle/>
          <a:p>
            <a:r>
              <a:rPr lang="en-US" dirty="0"/>
              <a:t>Styles </a:t>
            </a:r>
            <a:r>
              <a:rPr lang="en-US" sz="1800" dirty="0">
                <a:solidFill>
                  <a:srgbClr val="00B0F0"/>
                </a:solidFill>
              </a:rPr>
              <a:t>(derived instances owned by </a:t>
            </a:r>
            <a:r>
              <a:rPr lang="en-US" sz="1800" b="1" dirty="0" err="1">
                <a:solidFill>
                  <a:srgbClr val="00B0F0"/>
                </a:solidFill>
              </a:rPr>
              <a:t>UIStyleManager</a:t>
            </a:r>
            <a:r>
              <a:rPr lang="en-US" sz="1800" dirty="0">
                <a:solidFill>
                  <a:srgbClr val="00B0F0"/>
                </a:solidFill>
              </a:rPr>
              <a:t>)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lang="en-US" sz="1800" dirty="0"/>
              <a:t>… </a:t>
            </a:r>
            <a:r>
              <a:rPr lang="en-US" sz="1800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rgbClr val="FFC000"/>
                </a:solidFill>
                <a:latin typeface="Consolas" panose="020B0609020204030204" pitchFamily="49" charset="0"/>
              </a:rPr>
              <a:t>UIStyleImpl.h</a:t>
            </a:r>
            <a:r>
              <a:rPr lang="en-US" sz="1800" dirty="0">
                <a:solidFill>
                  <a:srgbClr val="FFC000"/>
                </a:solidFill>
                <a:latin typeface="Consolas" panose="020B0609020204030204" pitchFamily="49" charset="0"/>
              </a:rPr>
              <a:t>&gt;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A60AA-35FC-4A97-A914-1A1D412EB5A9}"/>
              </a:ext>
            </a:extLst>
          </p:cNvPr>
          <p:cNvSpPr txBox="1"/>
          <p:nvPr/>
        </p:nvSpPr>
        <p:spPr>
          <a:xfrm>
            <a:off x="609601" y="1534397"/>
            <a:ext cx="893107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</a:rPr>
              <a:t>Example classes include: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4AA3464-05C6-4A6A-9BE6-5AD4B99E40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332488"/>
              </p:ext>
            </p:extLst>
          </p:nvPr>
        </p:nvGraphicFramePr>
        <p:xfrm>
          <a:off x="609601" y="1981200"/>
          <a:ext cx="10972799" cy="1463040"/>
        </p:xfrm>
        <a:graphic>
          <a:graphicData uri="http://schemas.openxmlformats.org/drawingml/2006/table">
            <a:tbl>
              <a:tblPr firstRow="1" bandRow="1">
                <a:solidFill>
                  <a:schemeClr val="bg2">
                    <a:lumMod val="75000"/>
                  </a:schemeClr>
                </a:solidFill>
                <a:tableStyleId>{E269D01E-BC32-4049-B463-5C60D7B0CCD2}</a:tableStyleId>
              </a:tblPr>
              <a:tblGrid>
                <a:gridCol w="2285999">
                  <a:extLst>
                    <a:ext uri="{9D8B030D-6E8A-4147-A177-3AD203B41FA5}">
                      <a16:colId xmlns:a16="http://schemas.microsoft.com/office/drawing/2014/main" val="3655299918"/>
                    </a:ext>
                  </a:extLst>
                </a:gridCol>
                <a:gridCol w="5816626">
                  <a:extLst>
                    <a:ext uri="{9D8B030D-6E8A-4147-A177-3AD203B41FA5}">
                      <a16:colId xmlns:a16="http://schemas.microsoft.com/office/drawing/2014/main" val="2701741982"/>
                    </a:ext>
                  </a:extLst>
                </a:gridCol>
                <a:gridCol w="2870174">
                  <a:extLst>
                    <a:ext uri="{9D8B030D-6E8A-4147-A177-3AD203B41FA5}">
                      <a16:colId xmlns:a16="http://schemas.microsoft.com/office/drawing/2014/main" val="321471984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Data Class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solidFill>
                            <a:srgbClr val="00B050"/>
                          </a:solidFill>
                        </a:rPr>
                        <a:t>Header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45729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b="0" dirty="0" err="1"/>
                        <a:t>NullStyle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Style that does no rendering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UIStyleImpl.h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548149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b="0" dirty="0" err="1"/>
                        <a:t>SpriteStyle</a:t>
                      </a:r>
                      <a:endParaRPr lang="en-US" b="0" dirty="0"/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Style that renders sliced </a:t>
                      </a:r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tex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/</a:t>
                      </a:r>
                      <a:r>
                        <a:rPr lang="en-US" dirty="0" err="1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untex</a:t>
                      </a:r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quads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UIStyleImpl.h</a:t>
                      </a:r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77812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r>
                        <a:rPr lang="en-US" b="0" dirty="0" err="1"/>
                        <a:t>TextStyle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Style that renders UTF8 text strings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dirty="0" err="1">
                          <a:solidFill>
                            <a:srgbClr val="FFC000"/>
                          </a:solidFill>
                          <a:latin typeface="Consolas" panose="020B0609020204030204" pitchFamily="49" charset="0"/>
                        </a:rPr>
                        <a:t>UIStyleImpl.h</a:t>
                      </a:r>
                      <a:endParaRPr lang="en-US" dirty="0">
                        <a:solidFill>
                          <a:srgbClr val="FFC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472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3039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218-7941-437A-9B8B-DD3D5CD7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UIStateEvents</a:t>
            </a:r>
            <a:br>
              <a:rPr lang="en-US" dirty="0"/>
            </a:br>
            <a:r>
              <a:rPr lang="en-US" sz="2000" dirty="0">
                <a:solidFill>
                  <a:srgbClr val="00B0F0"/>
                </a:solidFill>
              </a:rPr>
              <a:t>…HOW DOES SAMPLE CODE GET NOTIFIED BY UI CHANGES?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7D325-4D71-4736-B02C-87CF48AC4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752600"/>
            <a:ext cx="10441596" cy="48006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They are publicly declared by the deriving widget class:</a:t>
            </a:r>
          </a:p>
          <a:p>
            <a:pPr lvl="1"/>
            <a:r>
              <a:rPr lang="en-US" dirty="0"/>
              <a:t>E.g.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UIStateEvent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State</a:t>
            </a:r>
            <a:r>
              <a:rPr lang="en-US" dirty="0">
                <a:latin typeface="Consolas" panose="020B0609020204030204" pitchFamily="49" charset="0"/>
              </a:rPr>
              <a:t>&gt;&amp;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UIButton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dirty="0" err="1">
                <a:latin typeface="Consolas" panose="020B0609020204030204" pitchFamily="49" charset="0"/>
              </a:rPr>
              <a:t>ButtonState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They are privately dispatched by the deriving widget class through the class setting its state value:</a:t>
            </a:r>
          </a:p>
          <a:p>
            <a:pPr lvl="1"/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</a:rPr>
              <a:t> Set(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StateValT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ElementT</a:t>
            </a:r>
            <a:r>
              <a:rPr lang="en-US" dirty="0">
                <a:latin typeface="Consolas" panose="020B0609020204030204" pitchFamily="49" charset="0"/>
              </a:rPr>
              <a:t>*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setter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latin typeface="Consolas" panose="020B0609020204030204" pitchFamily="49" charset="0"/>
              </a:rPr>
              <a:t>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en-US" dirty="0">
                <a:latin typeface="Consolas" panose="020B0609020204030204" pitchFamily="49" charset="0"/>
              </a:rPr>
              <a:t>) Dispatch(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setter</a:t>
            </a:r>
            <a:r>
              <a:rPr lang="en-US" dirty="0">
                <a:latin typeface="Consolas" panose="020B0609020204030204" pitchFamily="49" charset="0"/>
              </a:rPr>
              <a:t>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They are publicly “listened to” by whomever wants to:</a:t>
            </a:r>
          </a:p>
          <a:p>
            <a:pPr lvl="1"/>
            <a:r>
              <a:rPr lang="en-US" dirty="0"/>
              <a:t>E.g.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ListenerHandle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AddListenerWhen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StateValT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Listener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listener</a:t>
            </a:r>
            <a:r>
              <a:rPr lang="en-US" dirty="0"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664150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DBE06-C5F8-491A-83F8-14DB607DF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Performance Profile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C0F55-101B-44C6-9370-892F9B048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Will integrating the UITK keep my sample performant?</a:t>
            </a:r>
          </a:p>
        </p:txBody>
      </p:sp>
    </p:spTree>
    <p:extLst>
      <p:ext uri="{BB962C8B-B14F-4D97-AF65-F5344CB8AC3E}">
        <p14:creationId xmlns:p14="http://schemas.microsoft.com/office/powerpoint/2010/main" val="2529300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31308-B092-4CB4-9E93-B1B0A8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Perf Poop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D71E4-06D2-49DF-B3FF-9705D0183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3124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6A5BA9E8F8E046B188FFCD1E6B0191" ma:contentTypeVersion="12" ma:contentTypeDescription="Create a new document." ma:contentTypeScope="" ma:versionID="40afd11cf13c23f17ac4fd57255cd5cf">
  <xsd:schema xmlns:xsd="http://www.w3.org/2001/XMLSchema" xmlns:xs="http://www.w3.org/2001/XMLSchema" xmlns:p="http://schemas.microsoft.com/office/2006/metadata/properties" xmlns:ns3="9d4fcfbb-fb4c-4a80-8da1-26820ef1cc04" xmlns:ns4="2dc46505-3b1d-402b-837e-17599d98de2d" targetNamespace="http://schemas.microsoft.com/office/2006/metadata/properties" ma:root="true" ma:fieldsID="514d9918a2a9497fbc4cd347403c00f3" ns3:_="" ns4:_="">
    <xsd:import namespace="9d4fcfbb-fb4c-4a80-8da1-26820ef1cc04"/>
    <xsd:import namespace="2dc46505-3b1d-402b-837e-17599d98de2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4fcfbb-fb4c-4a80-8da1-26820ef1cc0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c46505-3b1d-402b-837e-17599d98de2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DC7785-D9C5-475B-BDEE-480A35BAD8D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C9A670F-D9E5-4A9F-8D6D-E294A5E48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4fcfbb-fb4c-4a80-8da1-26820ef1cc04"/>
    <ds:schemaRef ds:uri="2dc46505-3b1d-402b-837e-17599d98de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F0A927-627B-46C3-B1D8-4FC6098365B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{EDB0754C-423E-4F84-824F-6AC7254C589D}tf02836342</Template>
  <TotalTime>482</TotalTime>
  <Words>2319</Words>
  <Application>Microsoft Office PowerPoint</Application>
  <PresentationFormat>Widescreen</PresentationFormat>
  <Paragraphs>234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Century Gothic</vt:lpstr>
      <vt:lpstr>Consolas</vt:lpstr>
      <vt:lpstr>Wingdings 3</vt:lpstr>
      <vt:lpstr>Ion</vt:lpstr>
      <vt:lpstr>   Ultimately Interesting Tool Kit</vt:lpstr>
      <vt:lpstr>Similarities between UITK &amp; SampleGUI</vt:lpstr>
      <vt:lpstr>Differences between UITK &amp; SampleGUI</vt:lpstr>
      <vt:lpstr>What are “ref units” … ?</vt:lpstr>
      <vt:lpstr>Architecture</vt:lpstr>
      <vt:lpstr>Where is it?</vt:lpstr>
      <vt:lpstr>Documentation</vt:lpstr>
      <vt:lpstr>Porting a Sample to UITK</vt:lpstr>
      <vt:lpstr>1. Setting up the Sample’s UI  </vt:lpstr>
      <vt:lpstr>2. Finding and using elements</vt:lpstr>
      <vt:lpstr>3. Dynamically adding buttons</vt:lpstr>
      <vt:lpstr>Vital Statistics (Social_Desktop)</vt:lpstr>
      <vt:lpstr>Social_Desktop BeyondCompare</vt:lpstr>
      <vt:lpstr>Principal Classes</vt:lpstr>
      <vt:lpstr>Before &amp; After (straight port)…</vt:lpstr>
      <vt:lpstr>UISerializedObjects &amp; IDs …THE BASICS: HOW DATA &amp; CODE BIND TO EACH OTHER</vt:lpstr>
      <vt:lpstr>UIManager (singleton owned by Sample)  … in &lt;UIManager.h&gt; </vt:lpstr>
      <vt:lpstr>UIStyleManager (singleton owned by UIManager)  … in &lt;UIStyleManager.h&gt; </vt:lpstr>
      <vt:lpstr>UIStyleRenderer (singleton owned by UIStyleManager)  … in &lt;UIStyleRenderer.h&gt; </vt:lpstr>
      <vt:lpstr>UIElement (base instances owned by UIManager)  … in &lt;UIElement.h&gt; </vt:lpstr>
      <vt:lpstr>Widgets (derived instances owned by UIManager)  … in &lt;UIWidgets.h&gt; </vt:lpstr>
      <vt:lpstr>UIStyle (base instances owned by UIStyleManager)  … in &lt;UIStyle.h&gt; </vt:lpstr>
      <vt:lpstr>Styles (derived instances owned by UIStyleManager)  … in &lt;UIStyleImpl.h&gt; </vt:lpstr>
      <vt:lpstr>UIStateEvents …HOW DOES SAMPLE CODE GET NOTIFIED BY UI CHANGES?</vt:lpstr>
      <vt:lpstr>Performance Profile</vt:lpstr>
      <vt:lpstr>Perf Poop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Ultimate Interesting Tool Kit</dc:title>
  <dc:creator>Michael Copley</dc:creator>
  <cp:lastModifiedBy>Michael Copley</cp:lastModifiedBy>
  <cp:revision>16</cp:revision>
  <dcterms:created xsi:type="dcterms:W3CDTF">2020-02-12T18:52:04Z</dcterms:created>
  <dcterms:modified xsi:type="dcterms:W3CDTF">2020-02-19T18:09:57Z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0x010100D26A5BA9E8F8E046B188FFCD1E6B0191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micopley@microsoft.com</vt:lpwstr>
  </property>
  <property fmtid="{D5CDD505-2E9C-101B-9397-08002B2CF9AE}" pid="6" name="MSIP_Label_f42aa342-8706-4288-bd11-ebb85995028c_SetDate">
    <vt:lpwstr>2020-02-18T23:23:18.3344020Z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ActionId">
    <vt:lpwstr>aad8f640-839b-4ad6-9885-84571eac31f6</vt:lpwstr>
  </property>
  <property fmtid="{D5CDD505-2E9C-101B-9397-08002B2CF9AE}" pid="10" name="MSIP_Label_f42aa342-8706-4288-bd11-ebb85995028c_Extended_MSFT_Method">
    <vt:lpwstr>Automatic</vt:lpwstr>
  </property>
  <property fmtid="{D5CDD505-2E9C-101B-9397-08002B2CF9AE}" pid="11" name="Sensitivity">
    <vt:lpwstr>General</vt:lpwstr>
  </property>
</Properties>
</file>